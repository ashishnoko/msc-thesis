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2" r:id="rId8"/>
    <p:sldId id="268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1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460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2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17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34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18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8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09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71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6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1087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30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0321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39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19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231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28B82-2959-4B38-A683-1EA3B2A27705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4264D40-486D-43FC-8AA8-F9635165E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2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3224"/>
            <a:ext cx="9144000" cy="305673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Analyzing and forecasting glacier mass loss in the </a:t>
            </a:r>
            <a:br>
              <a:rPr lang="en-US" b="1" dirty="0" smtClean="0"/>
            </a:br>
            <a:r>
              <a:rPr lang="en-US" b="1" dirty="0" smtClean="0"/>
              <a:t>Himalayas using Machine Learning Models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4071068"/>
            <a:ext cx="8791575" cy="2274072"/>
          </a:xfrm>
        </p:spPr>
        <p:txBody>
          <a:bodyPr>
            <a:normAutofit/>
          </a:bodyPr>
          <a:lstStyle/>
          <a:p>
            <a:pPr algn="r"/>
            <a:r>
              <a:rPr lang="en-US" b="1" dirty="0" smtClean="0"/>
              <a:t>MSc Data Analytics </a:t>
            </a:r>
          </a:p>
          <a:p>
            <a:pPr algn="r"/>
            <a:r>
              <a:rPr lang="en-US" b="1" dirty="0"/>
              <a:t>L</a:t>
            </a:r>
            <a:r>
              <a:rPr lang="en-US" b="1" dirty="0" smtClean="0"/>
              <a:t>ondon Metropolitan University</a:t>
            </a:r>
          </a:p>
          <a:p>
            <a:pPr algn="r"/>
            <a:r>
              <a:rPr lang="en-US" b="1" dirty="0" smtClean="0"/>
              <a:t>Ashish Nagarkoti </a:t>
            </a:r>
          </a:p>
          <a:p>
            <a:pPr algn="r"/>
            <a:r>
              <a:rPr lang="en-US" b="1" dirty="0" smtClean="0"/>
              <a:t>Student id: 24038315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113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6" y="624110"/>
            <a:ext cx="2972987" cy="703758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/>
              <a:t>Background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1789" y="1533680"/>
            <a:ext cx="9822773" cy="1417984"/>
          </a:xfrm>
        </p:spPr>
        <p:txBody>
          <a:bodyPr>
            <a:normAutofit/>
          </a:bodyPr>
          <a:lstStyle/>
          <a:p>
            <a:r>
              <a:rPr lang="en-US" dirty="0" smtClean="0"/>
              <a:t>Himalayan Glaciers are important freshwater reservoirs supporting water supply, agriculture, hydropower and ecosystems.</a:t>
            </a:r>
          </a:p>
          <a:p>
            <a:r>
              <a:rPr lang="en-US" dirty="0" smtClean="0"/>
              <a:t>Rising temperature, changing precipitations and snowfall patterns are accelerating glacier mass loss.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326818" y="3912041"/>
            <a:ext cx="3501487" cy="2860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Glacier response varies significantly across regions due to the differences in elevation, topography and climate.</a:t>
            </a:r>
          </a:p>
          <a:p>
            <a:r>
              <a:rPr lang="en-US" dirty="0" smtClean="0"/>
              <a:t>Accelerated glacier loss increases risks to water resources and downstream communities.</a:t>
            </a:r>
          </a:p>
          <a:p>
            <a:pPr marL="0" indent="0">
              <a:buFont typeface="Wingdings 3" charset="2"/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365427" y="3932323"/>
            <a:ext cx="4156013" cy="330336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900" dirty="0" smtClean="0"/>
              <a:t>Limited studies combine glacier inventory analysis, regional comparison, and machine learning forecasting with in a single analytical framework.</a:t>
            </a:r>
          </a:p>
          <a:p>
            <a:r>
              <a:rPr lang="en-US" sz="2900" dirty="0" smtClean="0"/>
              <a:t>Large glacier datasets remain underutilized for predictive analysis</a:t>
            </a:r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Font typeface="Wingdings 3" charset="2"/>
              <a:buNone/>
            </a:pPr>
            <a:endParaRPr lang="en-US" dirty="0"/>
          </a:p>
          <a:p>
            <a:pPr marL="0" indent="0">
              <a:buFont typeface="Wingdings 3" charset="2"/>
              <a:buNone/>
            </a:pPr>
            <a:r>
              <a:rPr lang="en-US" dirty="0" smtClean="0"/>
              <a:t> </a:t>
            </a: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095754" y="3526807"/>
            <a:ext cx="1811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Research Gap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19595" y="3562991"/>
            <a:ext cx="2300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Problem Statement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48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94589"/>
          </a:xfrm>
        </p:spPr>
        <p:txBody>
          <a:bodyPr/>
          <a:lstStyle/>
          <a:p>
            <a:r>
              <a:rPr lang="en-US" b="1" dirty="0" smtClean="0"/>
              <a:t>Aim &amp; Objectives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Compile RGI v7.0 glacier inventory(Region13,14,15)</a:t>
            </a:r>
          </a:p>
          <a:p>
            <a:r>
              <a:rPr lang="en-US" dirty="0" smtClean="0"/>
              <a:t>Analyze spatial distribution of glacial count, area and elevation</a:t>
            </a:r>
          </a:p>
          <a:p>
            <a:r>
              <a:rPr lang="en-US" dirty="0" smtClean="0"/>
              <a:t>Compare characteristics across Central Asia, South Asia East &amp; West</a:t>
            </a:r>
          </a:p>
          <a:p>
            <a:r>
              <a:rPr lang="en-US" dirty="0" smtClean="0"/>
              <a:t>Inspect mass-balance trends from 1990-2025 using time series model.</a:t>
            </a:r>
          </a:p>
          <a:p>
            <a:r>
              <a:rPr lang="en-US" dirty="0" smtClean="0"/>
              <a:t>Build interactive Power BI dashboards communicating glacier patterns</a:t>
            </a:r>
          </a:p>
          <a:p>
            <a:r>
              <a:rPr lang="en-US" dirty="0" smtClean="0"/>
              <a:t>Evaluate ML forecasting models (Linear regression vs Random Forest)</a:t>
            </a:r>
          </a:p>
          <a:p>
            <a:r>
              <a:rPr lang="en-US" dirty="0" smtClean="0"/>
              <a:t>Establish a systematic analytical approach for future glacier forecasting studies.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76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Research Questions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have glacier area and elevation changed in the Himalayas over the past three decades(1990-2025)?</a:t>
            </a:r>
          </a:p>
          <a:p>
            <a:r>
              <a:rPr lang="en-US" dirty="0" smtClean="0"/>
              <a:t>Do glacier melting rates vary significantly across different sub regions (Central, Western , and Eastern)?</a:t>
            </a:r>
          </a:p>
          <a:p>
            <a:r>
              <a:rPr lang="en-US" dirty="0" smtClean="0"/>
              <a:t>Is the rate of glacier mass loss in the Himalayas accelerating over time?</a:t>
            </a:r>
          </a:p>
          <a:p>
            <a:r>
              <a:rPr lang="en-US" dirty="0" smtClean="0"/>
              <a:t>Which regions are most at risk of accelerated glacier loss?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92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62784"/>
          </a:xfrm>
        </p:spPr>
        <p:txBody>
          <a:bodyPr/>
          <a:lstStyle/>
          <a:p>
            <a:r>
              <a:rPr lang="en-US" b="1" dirty="0" smtClean="0"/>
              <a:t>Methodology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2630" y="1717481"/>
            <a:ext cx="9905999" cy="5208105"/>
          </a:xfrm>
        </p:spPr>
        <p:txBody>
          <a:bodyPr>
            <a:normAutofit/>
          </a:bodyPr>
          <a:lstStyle/>
          <a:p>
            <a:r>
              <a:rPr lang="en-US" dirty="0" smtClean="0"/>
              <a:t>It follows the CRISP-DM framework, moving from business understanding to data preparation, modelling, evaluation and interpretation. </a:t>
            </a:r>
          </a:p>
          <a:p>
            <a:r>
              <a:rPr lang="en-US" dirty="0" smtClean="0"/>
              <a:t>Tools required are Power BI(dashboards), Python(ML) and Excel.</a:t>
            </a:r>
          </a:p>
          <a:p>
            <a:r>
              <a:rPr lang="en-US" dirty="0" smtClean="0"/>
              <a:t>Firstly for data preparation, use RGI v7.0 datasets, mass-balance datasets and Power BI for cleaning</a:t>
            </a:r>
          </a:p>
          <a:p>
            <a:r>
              <a:rPr lang="en-US" dirty="0" smtClean="0"/>
              <a:t>For exploratory analysis, we make various visuals for glacier count, area, elevation , size class.</a:t>
            </a:r>
          </a:p>
          <a:p>
            <a:r>
              <a:rPr lang="en-US" dirty="0" smtClean="0"/>
              <a:t>For time-series forecast, with the help of Power Bi, we are able to find the annual balance trends from 1990 to 2025</a:t>
            </a:r>
          </a:p>
          <a:p>
            <a:r>
              <a:rPr lang="en-US" dirty="0" smtClean="0"/>
              <a:t>For machine learning modelling, we use linear regression and random forest in order to calculate MAE, RMSE and R-square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40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552" y="475395"/>
            <a:ext cx="5267338" cy="868376"/>
          </a:xfrm>
        </p:spPr>
        <p:txBody>
          <a:bodyPr/>
          <a:lstStyle/>
          <a:p>
            <a:r>
              <a:rPr lang="en-US" b="1" dirty="0" smtClean="0"/>
              <a:t>Implementation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486894"/>
            <a:ext cx="3557809" cy="43043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Data Sources</a:t>
            </a:r>
            <a:r>
              <a:rPr lang="en-US" dirty="0" smtClean="0"/>
              <a:t> </a:t>
            </a:r>
          </a:p>
          <a:p>
            <a:r>
              <a:rPr lang="en-US" dirty="0" smtClean="0"/>
              <a:t>RGI v7.0 Region 13 for Central Asia, Region 14 for South Asia West and Region 15 for South Asia East</a:t>
            </a:r>
          </a:p>
          <a:p>
            <a:r>
              <a:rPr lang="en-US" dirty="0" smtClean="0"/>
              <a:t>Glacier Mass-Balance Dataset from 1990 to 2025 </a:t>
            </a:r>
          </a:p>
          <a:p>
            <a:pPr marL="0" indent="0">
              <a:buNone/>
            </a:pPr>
            <a:r>
              <a:rPr lang="en-US" dirty="0" smtClean="0"/>
              <a:t>	 	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70174" y="1486894"/>
            <a:ext cx="3824577" cy="40108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Data Processing Pipeline</a:t>
            </a:r>
            <a:endParaRPr lang="en-US" dirty="0" smtClean="0"/>
          </a:p>
          <a:p>
            <a:r>
              <a:rPr lang="en-US" dirty="0"/>
              <a:t>For Data Processing, import, clean &amp; merge 3 RGI datasets and name to HMA_Glacier</a:t>
            </a:r>
          </a:p>
          <a:p>
            <a:r>
              <a:rPr lang="en-US" dirty="0"/>
              <a:t>Added region, size_class, sub_region &amp; decade columns</a:t>
            </a:r>
          </a:p>
          <a:p>
            <a:r>
              <a:rPr lang="en-US" dirty="0"/>
              <a:t>Python: filter 1990-1995, drop null balance rows</a:t>
            </a:r>
          </a:p>
          <a:p>
            <a:r>
              <a:rPr lang="en-US" dirty="0"/>
              <a:t>Train/test split : 2005-2020 train | 2021-2025 test</a:t>
            </a:r>
          </a:p>
          <a:p>
            <a:r>
              <a:rPr lang="en-US" dirty="0"/>
              <a:t>One Hot Encoder for sub_region</a:t>
            </a:r>
          </a:p>
          <a:p>
            <a:endParaRPr lang="en-US" dirty="0" smtClean="0"/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865704" y="1431235"/>
            <a:ext cx="3326296" cy="37768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b="1" dirty="0" smtClean="0"/>
              <a:t>Tools</a:t>
            </a:r>
          </a:p>
          <a:p>
            <a:r>
              <a:rPr lang="en-US" dirty="0" smtClean="0"/>
              <a:t>PowerBI </a:t>
            </a:r>
            <a:r>
              <a:rPr lang="en-US" dirty="0"/>
              <a:t>dashboards, visualizations &amp; builtin forecast</a:t>
            </a:r>
          </a:p>
          <a:p>
            <a:r>
              <a:rPr lang="en-US" dirty="0"/>
              <a:t>Python Libraries : Pandas, NumPy, Scikit-learn, Matplotlib</a:t>
            </a:r>
          </a:p>
          <a:p>
            <a:r>
              <a:rPr lang="en-US" dirty="0"/>
              <a:t>Excel : data validation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20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6097" y="5286886"/>
            <a:ext cx="9905999" cy="4071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Shape 2"/>
          <p:cNvSpPr/>
          <p:nvPr/>
        </p:nvSpPr>
        <p:spPr>
          <a:xfrm>
            <a:off x="1415732" y="1526835"/>
            <a:ext cx="2011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5D8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b="1" dirty="0" smtClean="0"/>
              <a:t>      131,762</a:t>
            </a:r>
          </a:p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Total Glaciers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12" name="Shape 2"/>
          <p:cNvSpPr/>
          <p:nvPr/>
        </p:nvSpPr>
        <p:spPr>
          <a:xfrm>
            <a:off x="4623684" y="1514326"/>
            <a:ext cx="2297925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5D8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b="1" dirty="0" smtClean="0"/>
              <a:t>    99,468 km</a:t>
            </a:r>
          </a:p>
          <a:p>
            <a:endParaRPr lang="en-US" b="1" dirty="0"/>
          </a:p>
          <a:p>
            <a:r>
              <a:rPr lang="en-US" b="1" dirty="0" smtClean="0"/>
              <a:t>Total Glacier Area</a:t>
            </a:r>
            <a:endParaRPr lang="en-US" b="1" dirty="0"/>
          </a:p>
        </p:txBody>
      </p:sp>
      <p:sp>
        <p:nvSpPr>
          <p:cNvPr id="13" name="Shape 2"/>
          <p:cNvSpPr/>
          <p:nvPr/>
        </p:nvSpPr>
        <p:spPr>
          <a:xfrm>
            <a:off x="8117881" y="1514326"/>
            <a:ext cx="276572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5D8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b="1" dirty="0" smtClean="0"/>
              <a:t>         5044m </a:t>
            </a:r>
          </a:p>
          <a:p>
            <a:endParaRPr lang="en-US" b="1" dirty="0" smtClean="0"/>
          </a:p>
          <a:p>
            <a:r>
              <a:rPr lang="en-US" b="1" dirty="0" smtClean="0"/>
              <a:t>Avg Median Elevation 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1964792" y="590996"/>
            <a:ext cx="186621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</a:rPr>
              <a:t>RESULTS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646" y="3309052"/>
            <a:ext cx="5878663" cy="30572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742" y="3297802"/>
            <a:ext cx="4389500" cy="306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86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539" y="1831637"/>
            <a:ext cx="5249187" cy="2597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80306" y="3482701"/>
            <a:ext cx="2780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	</a:t>
            </a:r>
            <a:endParaRPr lang="en-US" dirty="0"/>
          </a:p>
        </p:txBody>
      </p:sp>
      <p:sp>
        <p:nvSpPr>
          <p:cNvPr id="11" name="Shape 2"/>
          <p:cNvSpPr/>
          <p:nvPr/>
        </p:nvSpPr>
        <p:spPr>
          <a:xfrm>
            <a:off x="1826147" y="109733"/>
            <a:ext cx="2825365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5D8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b="1" dirty="0" smtClean="0"/>
              <a:t>      	-1.48</a:t>
            </a:r>
          </a:p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Mean Mass Balance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(Across all sub-regions)</a:t>
            </a:r>
            <a:endParaRPr lang="en-US" b="1" dirty="0"/>
          </a:p>
        </p:txBody>
      </p:sp>
      <p:sp>
        <p:nvSpPr>
          <p:cNvPr id="12" name="Shape 2"/>
          <p:cNvSpPr/>
          <p:nvPr/>
        </p:nvSpPr>
        <p:spPr>
          <a:xfrm>
            <a:off x="5294685" y="109733"/>
            <a:ext cx="2520566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5D8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b="1" dirty="0" smtClean="0"/>
              <a:t>      	80.0%</a:t>
            </a:r>
          </a:p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Negative Balance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(Glacier mass loss)</a:t>
            </a:r>
            <a:endParaRPr lang="en-US" b="1" dirty="0"/>
          </a:p>
        </p:txBody>
      </p:sp>
      <p:sp>
        <p:nvSpPr>
          <p:cNvPr id="13" name="Shape 2"/>
          <p:cNvSpPr/>
          <p:nvPr/>
        </p:nvSpPr>
        <p:spPr>
          <a:xfrm>
            <a:off x="8739371" y="139074"/>
            <a:ext cx="2520566" cy="1483797"/>
          </a:xfrm>
          <a:prstGeom prst="rect">
            <a:avLst/>
          </a:prstGeom>
          <a:solidFill>
            <a:srgbClr val="FFFFFF"/>
          </a:solidFill>
          <a:ln w="12700">
            <a:solidFill>
              <a:srgbClr val="1C5D8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b="1" dirty="0" smtClean="0"/>
              <a:t>      	2k</a:t>
            </a:r>
          </a:p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Number of Records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634" y="4563301"/>
            <a:ext cx="2423825" cy="23058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570" y="2299925"/>
            <a:ext cx="6228557" cy="310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60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Testing &amp; Model Performance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For</a:t>
            </a:r>
            <a:r>
              <a:rPr lang="en-US" dirty="0"/>
              <a:t>, Linear Regression, the MAE score is 0.8725, RMSE score is 1.072 and R-square is 0.6133. It explains 61.3 percent of variance. It misses non-linear  patterns in glacier climate relationships. </a:t>
            </a:r>
          </a:p>
          <a:p>
            <a:pPr marL="0" indent="0">
              <a:buNone/>
            </a:pPr>
            <a:r>
              <a:rPr lang="en-US" dirty="0"/>
              <a:t>Random Forest Regression, the MAE score is 0.55,RMSE score is 0.7985 and R-square is 0.7903. As, it explains 79 percent of variance. Regard as best model. It captures non-linear interactions between year, elevation, location &amp; sub-region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079" y="2133600"/>
            <a:ext cx="6628123" cy="99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92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Discussion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900" dirty="0" smtClean="0"/>
              <a:t>RGI inventory analysis established a baseline understanding of glacier area across High Mountain Asia. But , full tracking would require satellite derived datasets</a:t>
            </a:r>
          </a:p>
          <a:p>
            <a:r>
              <a:rPr lang="en-US" sz="1900" dirty="0" smtClean="0"/>
              <a:t>Regional variation is not uniform. Western Himalaya(-4.3) and Eastern Himalaya(-3.8) has more negative balance than Central Himalaya(-1.1) and Tibetan HMA(-1.2)</a:t>
            </a:r>
          </a:p>
          <a:p>
            <a:r>
              <a:rPr lang="en-US" sz="1900" dirty="0" smtClean="0"/>
              <a:t>Decade-wise analysis shows that 2020-2025 was the most negative period. Mean balance decreases from -1.1(2020) to -3.6(2025), indicating huge mass loss in recent years</a:t>
            </a:r>
          </a:p>
          <a:p>
            <a:r>
              <a:rPr lang="en-US" sz="1900" dirty="0" smtClean="0"/>
              <a:t>Western and Eastern Himalaya showed the strongest negative mean balance values and can be interpreted as higher mass-loss severity regions.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98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CONCLUSIONS &amp; RECOMMENDATIONS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25432"/>
            <a:ext cx="9905999" cy="4723075"/>
          </a:xfrm>
        </p:spPr>
        <p:txBody>
          <a:bodyPr>
            <a:normAutofit fontScale="85000" lnSpcReduction="20000"/>
          </a:bodyPr>
          <a:lstStyle/>
          <a:p>
            <a:r>
              <a:rPr lang="en-US" sz="2100" dirty="0" smtClean="0"/>
              <a:t>Himalayan glaciers are undergoing continuous mass loss</a:t>
            </a:r>
          </a:p>
          <a:p>
            <a:r>
              <a:rPr lang="en-US" sz="2100" dirty="0" smtClean="0"/>
              <a:t>Glacier loss is accelerating in recent years</a:t>
            </a:r>
          </a:p>
          <a:p>
            <a:r>
              <a:rPr lang="en-US" sz="2100" dirty="0" smtClean="0"/>
              <a:t>Western and Eastern Himalayas represent the highest-risk regions</a:t>
            </a:r>
            <a:endParaRPr lang="en-US" sz="2100" dirty="0" smtClean="0">
              <a:latin typeface="+mj-lt"/>
            </a:endParaRPr>
          </a:p>
          <a:p>
            <a:r>
              <a:rPr lang="en-US" sz="2100" dirty="0" smtClean="0"/>
              <a:t>Random Forest achieved the highest predictive performance, demonstrating the value of machine learning for glacier mass-balance forecasting. </a:t>
            </a:r>
            <a:endParaRPr lang="en-US" sz="2100" dirty="0" smtClean="0">
              <a:latin typeface="+mj-lt"/>
              <a:ea typeface="Calibri" pitchFamily="34" charset="-122"/>
              <a:cs typeface="Calibri" pitchFamily="34" charset="-120"/>
            </a:endParaRPr>
          </a:p>
          <a:p>
            <a:endParaRPr lang="en-US" sz="2100" dirty="0" smtClean="0">
              <a:latin typeface="+mj-lt"/>
            </a:endParaRPr>
          </a:p>
          <a:p>
            <a:pPr marL="0" indent="0">
              <a:buNone/>
            </a:pPr>
            <a:r>
              <a:rPr lang="en-US" sz="2300" b="1" dirty="0" smtClean="0"/>
              <a:t>	   </a:t>
            </a:r>
            <a:r>
              <a:rPr lang="en-US" sz="2300" b="1" dirty="0" smtClean="0">
                <a:solidFill>
                  <a:schemeClr val="accent2">
                    <a:lumMod val="75000"/>
                  </a:schemeClr>
                </a:solidFill>
              </a:rPr>
              <a:t>Future Recommendations</a:t>
            </a:r>
          </a:p>
          <a:p>
            <a:pPr marL="0" indent="0">
              <a:buNone/>
            </a:pPr>
            <a:endParaRPr lang="en-US" sz="2300" b="1" dirty="0" smtClean="0"/>
          </a:p>
          <a:p>
            <a:r>
              <a:rPr lang="en-US" sz="2100" dirty="0" smtClean="0"/>
              <a:t>Integrate climate variables such as temperature, precipitation and snowfall. </a:t>
            </a:r>
          </a:p>
          <a:p>
            <a:r>
              <a:rPr lang="en-US" sz="2100" dirty="0" smtClean="0"/>
              <a:t>Use satellite DEM data and remote sensing for annual glacier change monitoring. </a:t>
            </a:r>
          </a:p>
          <a:p>
            <a:r>
              <a:rPr lang="en-US" sz="2100" dirty="0" smtClean="0"/>
              <a:t>Explore ARIMA, XGBoost, &amp; Gradient Boosting for improved forecasting accuracy </a:t>
            </a:r>
          </a:p>
          <a:p>
            <a:r>
              <a:rPr lang="en-US" sz="2100" dirty="0" smtClean="0"/>
              <a:t>Improve regional classification using glacier basin boundaries</a:t>
            </a:r>
          </a:p>
          <a:p>
            <a:r>
              <a:rPr lang="en-US" sz="2100" dirty="0" smtClean="0"/>
              <a:t>Include glacial lake &amp; GLOF data for hazard-risk assessment. </a:t>
            </a:r>
          </a:p>
          <a:p>
            <a:endParaRPr lang="en-US" sz="19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45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972</TotalTime>
  <Words>715</Words>
  <Application>Microsoft Office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Wisp</vt:lpstr>
      <vt:lpstr>Analyzing and forecasting glacier mass loss in the  Himalayas using Machine Learning Models</vt:lpstr>
      <vt:lpstr>Background    </vt:lpstr>
      <vt:lpstr>Aim &amp; Objectives</vt:lpstr>
      <vt:lpstr>Research Questions</vt:lpstr>
      <vt:lpstr>Methodology</vt:lpstr>
      <vt:lpstr>Implementation</vt:lpstr>
      <vt:lpstr>PowerPoint Presentation</vt:lpstr>
      <vt:lpstr>PowerPoint Presentation</vt:lpstr>
      <vt:lpstr>Testing &amp; Model Performance</vt:lpstr>
      <vt:lpstr>Discussion</vt:lpstr>
      <vt:lpstr>CONCLUSIONS &amp; RECOMMENDATIONS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and forecasting glacier mass loss in the  Himalayas using Machine Learning Models</dc:title>
  <dc:creator>Microsoft account</dc:creator>
  <cp:lastModifiedBy>Microsoft account</cp:lastModifiedBy>
  <cp:revision>77</cp:revision>
  <dcterms:created xsi:type="dcterms:W3CDTF">2026-05-28T10:11:41Z</dcterms:created>
  <dcterms:modified xsi:type="dcterms:W3CDTF">2026-06-02T10:03:57Z</dcterms:modified>
</cp:coreProperties>
</file>